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Proxima Nova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ProximaNova-bold.fntdata"/><Relationship Id="rId12" Type="http://schemas.openxmlformats.org/officeDocument/2006/relationships/font" Target="fonts/ProximaNova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ProximaNova-boldItalic.fntdata"/><Relationship Id="rId14" Type="http://schemas.openxmlformats.org/officeDocument/2006/relationships/font" Target="fonts/ProximaNova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97cf875a1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b97cf875a1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97cf875a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97cf875a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97cf875a1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97cf875a1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97cf875a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97cf875a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97cf875a1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b97cf875a1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" name="Google Shape;11;p2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" name="Google Shape;16;p3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pearmin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jpg"/><Relationship Id="rId6" Type="http://schemas.openxmlformats.org/officeDocument/2006/relationships/image" Target="../media/image3.jpg"/><Relationship Id="rId7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7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Matrix Exponential: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Power Series and Norm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Shlomi Fridman, Daniel Feldman</a:t>
            </a:r>
            <a:endParaRPr/>
          </a:p>
        </p:txBody>
      </p:sp>
      <p:sp>
        <p:nvSpPr>
          <p:cNvPr id="61" name="Google Shape;61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‹#›</a:t>
            </a:fld>
            <a:endParaRPr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/>
          <p:nvPr>
            <p:ph type="title"/>
          </p:nvPr>
        </p:nvSpPr>
        <p:spPr>
          <a:xfrm>
            <a:off x="311700" y="445025"/>
            <a:ext cx="241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Algorithm</a:t>
            </a:r>
            <a:endParaRPr/>
          </a:p>
        </p:txBody>
      </p:sp>
      <p:sp>
        <p:nvSpPr>
          <p:cNvPr id="67" name="Google Shape;67;p14"/>
          <p:cNvSpPr txBox="1"/>
          <p:nvPr>
            <p:ph idx="1" type="body"/>
          </p:nvPr>
        </p:nvSpPr>
        <p:spPr>
          <a:xfrm>
            <a:off x="311700" y="1152475"/>
            <a:ext cx="5364000" cy="374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Scale down the matrix for calculation to avoid overflow.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2. Find bk which is an estimation to the dominant eigenvector with approximation of epsilon.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3. Calculate mu which is an estimation to the absolute value of the dominant eigenvalue, using bk.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4. Find m, that fits the condition of the equation: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5. Calculate the approximation of the matrix exponential using sum of Taylor series from 0 to m.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6. Scale up using repeated squaring back to the original scale.</a:t>
            </a:r>
            <a:endParaRPr/>
          </a:p>
        </p:txBody>
      </p:sp>
      <p:pic>
        <p:nvPicPr>
          <p:cNvPr id="68" name="Google Shape;68;p14"/>
          <p:cNvPicPr preferRelativeResize="0"/>
          <p:nvPr/>
        </p:nvPicPr>
        <p:blipFill rotWithShape="1">
          <a:blip r:embed="rId3">
            <a:alphaModFix/>
          </a:blip>
          <a:srcRect b="0" l="0" r="8550" t="0"/>
          <a:stretch/>
        </p:blipFill>
        <p:spPr>
          <a:xfrm>
            <a:off x="4990199" y="2976300"/>
            <a:ext cx="1109100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‹#›</a:t>
            </a:fld>
            <a:endParaRPr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2283" y="1533200"/>
            <a:ext cx="1371934" cy="6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4"/>
          <p:cNvPicPr preferRelativeResize="0"/>
          <p:nvPr/>
        </p:nvPicPr>
        <p:blipFill rotWithShape="1">
          <a:blip r:embed="rId5">
            <a:alphaModFix/>
          </a:blip>
          <a:srcRect b="11273" l="9403" r="0" t="10054"/>
          <a:stretch/>
        </p:blipFill>
        <p:spPr>
          <a:xfrm>
            <a:off x="6143852" y="3548988"/>
            <a:ext cx="1276273" cy="63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96976" y="2241600"/>
            <a:ext cx="1371950" cy="7347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58425" y="1621562"/>
            <a:ext cx="2262725" cy="45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Advantages</a:t>
            </a:r>
            <a:endParaRPr/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/>
              <a:t>Python</a:t>
            </a:r>
            <a:endParaRPr b="1" u="sng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Easy and readable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optimized vectorization library (NumPy)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 reliance on libraries other than NumPy.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Loading CSV file in one line. (np.loadtext)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473065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/>
              <a:t>Scheme</a:t>
            </a:r>
            <a:endParaRPr b="1" u="sng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Uses a compiler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optimized vectorization library (Flomat)</a:t>
            </a:r>
            <a:endParaRPr/>
          </a:p>
        </p:txBody>
      </p:sp>
      <p:sp>
        <p:nvSpPr>
          <p:cNvPr id="81" name="Google Shape;81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‹#›</a:t>
            </a:fld>
            <a:endParaRPr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Disadvantages</a:t>
            </a:r>
            <a:endParaRPr/>
          </a:p>
        </p:txBody>
      </p:sp>
      <p:sp>
        <p:nvSpPr>
          <p:cNvPr id="87" name="Google Shape;87;p16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/>
              <a:t>Python</a:t>
            </a:r>
            <a:endParaRPr b="1" u="sng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Uses an interpreter instead of the compiler which gives a slower execution time.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Floating point arithmetic precision loss in big numbers, requires scaling down the matrix.</a:t>
            </a:r>
            <a:endParaRPr/>
          </a:p>
        </p:txBody>
      </p:sp>
      <p:sp>
        <p:nvSpPr>
          <p:cNvPr id="88" name="Google Shape;88;p16"/>
          <p:cNvSpPr txBox="1"/>
          <p:nvPr>
            <p:ph idx="1" type="body"/>
          </p:nvPr>
        </p:nvSpPr>
        <p:spPr>
          <a:xfrm>
            <a:off x="473065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/>
              <a:t>Scheme</a:t>
            </a:r>
            <a:endParaRPr b="1" u="sng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Reliance on tail recursion for optimization.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Each calculation requires a new memory allocation.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Long runtimes compared to python.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Loading and reading a CSV file requires parsing.</a:t>
            </a:r>
            <a:endParaRPr/>
          </a:p>
        </p:txBody>
      </p:sp>
      <p:sp>
        <p:nvSpPr>
          <p:cNvPr id="89" name="Google Shape;8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‹#›</a:t>
            </a:fld>
            <a:endParaRPr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Optimization Techniques</a:t>
            </a:r>
            <a:endParaRPr/>
          </a:p>
        </p:txBody>
      </p:sp>
      <p:sp>
        <p:nvSpPr>
          <p:cNvPr id="95" name="Google Shape;95;p17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/>
              <a:t>Python</a:t>
            </a:r>
            <a:endParaRPr b="1" u="sng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Using integration of NumPy library for matrix cr</a:t>
            </a:r>
            <a:r>
              <a:rPr lang="en"/>
              <a:t>eation, matrix multiplication,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Scaling down the original matrix to handle large numbers.</a:t>
            </a:r>
            <a:endParaRPr/>
          </a:p>
        </p:txBody>
      </p:sp>
      <p:sp>
        <p:nvSpPr>
          <p:cNvPr id="96" name="Google Shape;96;p17"/>
          <p:cNvSpPr txBox="1"/>
          <p:nvPr>
            <p:ph idx="1" type="body"/>
          </p:nvPr>
        </p:nvSpPr>
        <p:spPr>
          <a:xfrm>
            <a:off x="473065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/>
              <a:t>Scheme</a:t>
            </a:r>
            <a:endParaRPr b="1" u="sng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Tail recursion for runtime </a:t>
            </a:r>
            <a:r>
              <a:rPr lang="en"/>
              <a:t>optimization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Using Flomat library for vectorization.</a:t>
            </a:r>
            <a:endParaRPr/>
          </a:p>
        </p:txBody>
      </p:sp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‹#›</a:t>
            </a:fld>
            <a:endParaRPr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Runtime Comparisons (Windows 11)</a:t>
            </a:r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/>
              <a:t>Python</a:t>
            </a:r>
            <a:endParaRPr b="1"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Our Implementation: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SciPy Implementation: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8"/>
          <p:cNvSpPr txBox="1"/>
          <p:nvPr>
            <p:ph idx="1" type="body"/>
          </p:nvPr>
        </p:nvSpPr>
        <p:spPr>
          <a:xfrm>
            <a:off x="473065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/>
              <a:t>Scheme</a:t>
            </a:r>
            <a:endParaRPr b="1"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Our Implementation: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Flomat </a:t>
            </a:r>
            <a:r>
              <a:rPr lang="en"/>
              <a:t>Implementation: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05" name="Google Shape;10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475" y="3117625"/>
            <a:ext cx="3395050" cy="34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000" y="2051000"/>
            <a:ext cx="3231969" cy="34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94938" y="3167475"/>
            <a:ext cx="4101650" cy="291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30650" y="2088130"/>
            <a:ext cx="4030220" cy="34092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‹#›</a:t>
            </a:fld>
            <a:endParaRPr>
              <a:solidFill>
                <a:schemeClr val="dk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